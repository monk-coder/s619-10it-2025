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3" r:id="rId9"/>
    <p:sldId id="265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CBBF4-872D-42A0-A8C2-38D66D331A4F}" v="1388" dt="2025-12-29T07:00:41.3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2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5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90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8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9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7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3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3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4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4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22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E99FF03-DD5A-4DE5-9633-AA461D9BB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89941" y="511685"/>
            <a:ext cx="6404238" cy="5622415"/>
          </a:xfrm>
        </p:spPr>
        <p:txBody>
          <a:bodyPr anchor="t">
            <a:normAutofit/>
          </a:bodyPr>
          <a:lstStyle/>
          <a:p>
            <a:r>
              <a:rPr lang="ru-RU" sz="6600"/>
              <a:t>Как работают мессенджеры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0100" y="680356"/>
            <a:ext cx="2522294" cy="3467100"/>
          </a:xfrm>
        </p:spPr>
        <p:txBody>
          <a:bodyPr anchor="t">
            <a:normAutofit/>
          </a:bodyPr>
          <a:lstStyle/>
          <a:p>
            <a:pPr algn="r"/>
            <a:r>
              <a:rPr lang="ru-RU" dirty="0"/>
              <a:t>Смирнов Олег 10ИТ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056169" y="723900"/>
            <a:ext cx="0" cy="533400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017C2-6E99-17E3-6CB1-50F4042C2EE7}"/>
              </a:ext>
            </a:extLst>
          </p:cNvPr>
          <p:cNvSpPr txBox="1"/>
          <p:nvPr/>
        </p:nvSpPr>
        <p:spPr>
          <a:xfrm>
            <a:off x="688800" y="2933970"/>
            <a:ext cx="14977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Отправитель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7B50B95B-CAD7-10A6-303F-44690622CBCE}"/>
              </a:ext>
            </a:extLst>
          </p:cNvPr>
          <p:cNvCxnSpPr/>
          <p:nvPr/>
        </p:nvCxnSpPr>
        <p:spPr>
          <a:xfrm flipV="1">
            <a:off x="2193524" y="3122390"/>
            <a:ext cx="567158" cy="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AC1E7C0-FF54-9AC6-48A8-18057AF332B9}"/>
              </a:ext>
            </a:extLst>
          </p:cNvPr>
          <p:cNvSpPr txBox="1"/>
          <p:nvPr/>
        </p:nvSpPr>
        <p:spPr>
          <a:xfrm>
            <a:off x="2759557" y="2383512"/>
            <a:ext cx="1655603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/>
              <a:t>Шифрование:</a:t>
            </a:r>
          </a:p>
          <a:p>
            <a:pPr marL="285750" indent="-285750">
              <a:buFont typeface="Arial"/>
              <a:buChar char="•"/>
            </a:pPr>
            <a:r>
              <a:rPr lang="ru-RU" sz="1400" dirty="0"/>
              <a:t>HTTP</a:t>
            </a:r>
          </a:p>
          <a:p>
            <a:pPr marL="285750" indent="-285750">
              <a:buFont typeface="Arial"/>
              <a:buChar char="•"/>
            </a:pPr>
            <a:r>
              <a:rPr lang="ru-RU" sz="1400" err="1"/>
              <a:t>WebSocket</a:t>
            </a:r>
            <a:endParaRPr lang="ru-RU" sz="1400"/>
          </a:p>
          <a:p>
            <a:pPr marL="285750" indent="-285750">
              <a:buFont typeface="Arial"/>
              <a:buChar char="•"/>
            </a:pPr>
            <a:r>
              <a:rPr lang="ru-RU" sz="1400" dirty="0"/>
              <a:t>XMPP</a:t>
            </a:r>
          </a:p>
          <a:p>
            <a:pPr marL="285750" indent="-285750">
              <a:buFont typeface="Arial"/>
              <a:buChar char="•"/>
            </a:pPr>
            <a:r>
              <a:rPr lang="ru-RU" sz="1400" dirty="0"/>
              <a:t>MQTT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CFFD0ACA-01F1-24FF-F654-CC68A80F41EC}"/>
              </a:ext>
            </a:extLst>
          </p:cNvPr>
          <p:cNvCxnSpPr/>
          <p:nvPr/>
        </p:nvCxnSpPr>
        <p:spPr>
          <a:xfrm>
            <a:off x="4418033" y="3168930"/>
            <a:ext cx="1116956" cy="46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лако 5">
            <a:extLst>
              <a:ext uri="{FF2B5EF4-FFF2-40B4-BE49-F238E27FC236}">
                <a16:creationId xmlns:a16="http://schemas.microsoft.com/office/drawing/2014/main" id="{F253ED1D-6781-59A9-3085-DAB23FCDE7E4}"/>
              </a:ext>
            </a:extLst>
          </p:cNvPr>
          <p:cNvSpPr/>
          <p:nvPr/>
        </p:nvSpPr>
        <p:spPr>
          <a:xfrm>
            <a:off x="5728023" y="2453349"/>
            <a:ext cx="2505917" cy="1473842"/>
          </a:xfrm>
          <a:prstGeom prst="cloud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4794B9-5EC6-0123-9366-8231CF4E14A3}"/>
              </a:ext>
            </a:extLst>
          </p:cNvPr>
          <p:cNvSpPr txBox="1"/>
          <p:nvPr/>
        </p:nvSpPr>
        <p:spPr>
          <a:xfrm>
            <a:off x="6106307" y="3043904"/>
            <a:ext cx="175060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/>
              <a:t>Облачный сервер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31696-4130-A27F-D8C6-33F95D0975FE}"/>
              </a:ext>
            </a:extLst>
          </p:cNvPr>
          <p:cNvSpPr txBox="1"/>
          <p:nvPr/>
        </p:nvSpPr>
        <p:spPr>
          <a:xfrm>
            <a:off x="5981178" y="3914383"/>
            <a:ext cx="21294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Маршрутизация и хранение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06F7A6B-9EAF-750D-CABC-AA1409939318}"/>
              </a:ext>
            </a:extLst>
          </p:cNvPr>
          <p:cNvCxnSpPr/>
          <p:nvPr/>
        </p:nvCxnSpPr>
        <p:spPr>
          <a:xfrm flipV="1">
            <a:off x="8394419" y="3150120"/>
            <a:ext cx="740778" cy="2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DD486B-A81A-1AE9-477F-AE1B5461F7C4}"/>
              </a:ext>
            </a:extLst>
          </p:cNvPr>
          <p:cNvSpPr txBox="1"/>
          <p:nvPr/>
        </p:nvSpPr>
        <p:spPr>
          <a:xfrm>
            <a:off x="9227507" y="2995807"/>
            <a:ext cx="18893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/>
              <a:t>Получатель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8A6B02-071B-869C-B22B-6AEAE65F9A6E}"/>
              </a:ext>
            </a:extLst>
          </p:cNvPr>
          <p:cNvSpPr txBox="1"/>
          <p:nvPr/>
        </p:nvSpPr>
        <p:spPr>
          <a:xfrm>
            <a:off x="8239034" y="2898691"/>
            <a:ext cx="111465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050" dirty="0"/>
              <a:t>Дешифрование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440976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, дисплей">
            <a:extLst>
              <a:ext uri="{FF2B5EF4-FFF2-40B4-BE49-F238E27FC236}">
                <a16:creationId xmlns:a16="http://schemas.microsoft.com/office/drawing/2014/main" id="{5FD88D5B-3570-CB66-6CE2-F1B7A7CB6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302152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0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6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49E7A2-2141-1DD7-D6D4-6033193B3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2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069632-9D5C-17E5-1518-80EBDD434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521"/>
            <a:ext cx="12192000" cy="639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21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A4EE0C-A6C5-7BDE-A5DD-47B4D0873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37" y="1305105"/>
            <a:ext cx="3133725" cy="351472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8EA5F7-87AE-03BA-3FB4-1651324C9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63" y="790937"/>
            <a:ext cx="2226946" cy="528577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576F39-096E-3E93-E319-9F8871B8B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617" y="790937"/>
            <a:ext cx="1973326" cy="527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08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0E8029-174D-6E4C-5E12-3B760E99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32076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453684-40D9-D44B-4ECA-8807925D2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7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снимок экрана, ча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C2728E-552A-C90E-ADFA-97D65D9F2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E5228B-14E2-C29D-1E3C-A9CDE853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011"/>
            <a:ext cx="12192000" cy="3585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7C01E3-A3EC-A841-BA93-75D5A0A91113}"/>
              </a:ext>
            </a:extLst>
          </p:cNvPr>
          <p:cNvSpPr txBox="1"/>
          <p:nvPr/>
        </p:nvSpPr>
        <p:spPr>
          <a:xfrm>
            <a:off x="976923" y="4308230"/>
            <a:ext cx="176823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ru-RU" sz="1200" dirty="0"/>
              <a:t>Модель клиент-сервера: приложение + облако</a:t>
            </a:r>
          </a:p>
          <a:p>
            <a:pPr marL="171450" indent="-171450">
              <a:buFont typeface="Arial"/>
              <a:buChar char="•"/>
            </a:pPr>
            <a:r>
              <a:rPr lang="ru-RU" sz="1200" dirty="0"/>
              <a:t>Облачное хранилище с </a:t>
            </a:r>
            <a:r>
              <a:rPr lang="ru-RU" sz="1200"/>
              <a:t>резервными копиями</a:t>
            </a:r>
          </a:p>
          <a:p>
            <a:pPr marL="171450" indent="-171450">
              <a:buFont typeface="Arial"/>
              <a:buChar char="•"/>
            </a:pPr>
            <a:r>
              <a:rPr lang="ru-RU" sz="1200" dirty="0"/>
              <a:t>Синхронизация сообщений на всех устройствах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B1F17-DCB5-BD75-AEE0-598CC6C226EA}"/>
              </a:ext>
            </a:extLst>
          </p:cNvPr>
          <p:cNvSpPr txBox="1"/>
          <p:nvPr/>
        </p:nvSpPr>
        <p:spPr>
          <a:xfrm>
            <a:off x="2969845" y="4297792"/>
            <a:ext cx="185240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ru-RU" sz="1200" err="1"/>
              <a:t>WebSocket</a:t>
            </a:r>
            <a:r>
              <a:rPr lang="ru-RU" sz="1200" dirty="0"/>
              <a:t>, HTTP, MQTT в зависимости от задач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Доставка при онлайне выходит </a:t>
            </a:r>
            <a:r>
              <a:rPr lang="ru-RU" sz="1200"/>
              <a:t>&lt;1 секунды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Сжатие трафика (GZIP и другие алгоритмы)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EF6C5-73C0-F0F7-2992-B19A5EF5B2D4}"/>
              </a:ext>
            </a:extLst>
          </p:cNvPr>
          <p:cNvSpPr txBox="1"/>
          <p:nvPr/>
        </p:nvSpPr>
        <p:spPr>
          <a:xfrm>
            <a:off x="4815963" y="4297792"/>
            <a:ext cx="199921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ru-RU" sz="1200" dirty="0"/>
              <a:t>E2EE: только отправитель и получатель видят текст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AES-256: шифрование + обмен ключами ECDH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Приватные ключи хранятся только на устройстве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E18D7-71C4-4CD8-C705-8793A2F05D42}"/>
              </a:ext>
            </a:extLst>
          </p:cNvPr>
          <p:cNvSpPr txBox="1"/>
          <p:nvPr/>
        </p:nvSpPr>
        <p:spPr>
          <a:xfrm>
            <a:off x="6818655" y="4297793"/>
            <a:ext cx="19379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ru-RU" sz="1200" dirty="0"/>
              <a:t>VoIP кодеки: Opus, G.722 для звука, VP8 для видео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RTP + </a:t>
            </a:r>
            <a:r>
              <a:rPr lang="ru-RU" sz="1200" err="1"/>
              <a:t>jitter</a:t>
            </a:r>
            <a:r>
              <a:rPr lang="ru-RU" sz="1200" dirty="0"/>
              <a:t> </a:t>
            </a:r>
            <a:r>
              <a:rPr lang="ru-RU" sz="1200" err="1"/>
              <a:t>buffer</a:t>
            </a:r>
            <a:r>
              <a:rPr lang="ru-RU" sz="1200" dirty="0"/>
              <a:t> для передачи в реальном </a:t>
            </a:r>
            <a:r>
              <a:rPr lang="ru-RU" sz="1200"/>
              <a:t>времени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Адаптивный битрейт под качество сети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2AECE-C0E1-FA6B-3FA5-D206C8C90559}"/>
              </a:ext>
            </a:extLst>
          </p:cNvPr>
          <p:cNvSpPr txBox="1"/>
          <p:nvPr/>
        </p:nvSpPr>
        <p:spPr>
          <a:xfrm>
            <a:off x="8760725" y="4297124"/>
            <a:ext cx="222751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ru-RU" sz="1200" dirty="0"/>
              <a:t>GDPR (ЕС), 152-ФЗ и 149-ФЗ о персональных данных (РФ)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Запретны для госсектора на иностранные мессенджеры</a:t>
            </a:r>
          </a:p>
          <a:p>
            <a:pPr marL="285750" indent="-285750">
              <a:buFont typeface="Arial"/>
              <a:buChar char="•"/>
            </a:pPr>
            <a:r>
              <a:rPr lang="ru-RU" sz="1200" dirty="0"/>
              <a:t>Штрафы за нарушение правил - до 700 тысяч рублей.</a:t>
            </a:r>
          </a:p>
        </p:txBody>
      </p:sp>
      <p:pic>
        <p:nvPicPr>
          <p:cNvPr id="10" name="Рисунок 9" descr="Изображение выглядит как текст, Шрифт, чек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990EB7-CD65-4AD1-FB4F-D21F1FA06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643" y="6230813"/>
            <a:ext cx="5073040" cy="62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8011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ChronicleVTI</vt:lpstr>
      <vt:lpstr>Как работают мессенджеры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291</cp:revision>
  <dcterms:created xsi:type="dcterms:W3CDTF">2025-12-22T08:18:04Z</dcterms:created>
  <dcterms:modified xsi:type="dcterms:W3CDTF">2025-12-29T07:10:51Z</dcterms:modified>
</cp:coreProperties>
</file>